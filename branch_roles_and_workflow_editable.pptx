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64592"/>
            <a:ext cx="5486400" cy="502920"/>
          </a:xfrm>
          <a:prstGeom prst="roundRect">
            <a:avLst/>
          </a:prstGeom>
          <a:solidFill>
            <a:srgbClr val="0C4369"/>
          </a:solidFill>
          <a:ln w="12700">
            <a:solidFill>
              <a:srgbClr val="0C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Yu Gothic"/>
              </a:rPr>
              <a:t>ブランチの役割と運用イメージ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6459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C4369"/>
                </a:solidFill>
                <a:latin typeface="Yu Gothic"/>
              </a:rPr>
              <a:t>役割に応じてコードを管理し、PRを通じてマージします。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804672"/>
            <a:ext cx="11777472" cy="3154680"/>
          </a:xfrm>
          <a:prstGeom prst="roundRect">
            <a:avLst/>
          </a:prstGeom>
          <a:noFill/>
          <a:ln w="16510">
            <a:solidFill>
              <a:srgbClr val="A0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868680"/>
            <a:ext cx="4572000" cy="31089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4369"/>
                </a:solidFill>
                <a:latin typeface="Yu Gothic"/>
              </a:rPr>
              <a:t>通常の開発フロー（1つの機能を開発する場合）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298448"/>
            <a:ext cx="1078992" cy="310896"/>
          </a:xfrm>
          <a:prstGeom prst="roundRect">
            <a:avLst/>
          </a:prstGeom>
          <a:solidFill>
            <a:srgbClr val="1C7EE8"/>
          </a:solidFill>
          <a:ln w="127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783080"/>
            <a:ext cx="1078992" cy="310896"/>
          </a:xfrm>
          <a:prstGeom prst="roundRect">
            <a:avLst/>
          </a:prstGeom>
          <a:solidFill>
            <a:srgbClr val="14A45B"/>
          </a:solidFill>
          <a:ln w="127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develop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267712"/>
            <a:ext cx="1078992" cy="310896"/>
          </a:xfrm>
          <a:prstGeom prst="roundRect">
            <a:avLst/>
          </a:prstGeom>
          <a:solidFill>
            <a:srgbClr val="FF6F18"/>
          </a:solidFill>
          <a:ln w="1270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feature/*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752344"/>
            <a:ext cx="1078992" cy="310896"/>
          </a:xfrm>
          <a:prstGeom prst="roundRect">
            <a:avLst/>
          </a:prstGeom>
          <a:solidFill>
            <a:srgbClr val="EE2D3F"/>
          </a:solidFill>
          <a:ln w="127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hotfix/*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1627632"/>
            <a:ext cx="7955280" cy="0"/>
          </a:xfrm>
          <a:prstGeom prst="line">
            <a:avLst/>
          </a:prstGeom>
          <a:ln w="21590">
            <a:solidFill>
              <a:srgbClr val="1C7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1938528"/>
            <a:ext cx="7955280" cy="0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815084" y="15681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874519" y="1709928"/>
            <a:ext cx="274321" cy="210312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45920" y="1143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main から develop を作成</a:t>
            </a:r>
          </a:p>
        </p:txBody>
      </p:sp>
      <p:sp>
        <p:nvSpPr>
          <p:cNvPr id="15" name="Oval 14"/>
          <p:cNvSpPr/>
          <p:nvPr/>
        </p:nvSpPr>
        <p:spPr>
          <a:xfrm>
            <a:off x="3186684" y="187909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246120" y="1938528"/>
            <a:ext cx="301752" cy="438912"/>
          </a:xfrm>
          <a:prstGeom prst="line">
            <a:avLst/>
          </a:prstGeom>
          <a:ln w="21590">
            <a:solidFill>
              <a:srgbClr val="FF6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47872" y="2377440"/>
            <a:ext cx="1892808" cy="0"/>
          </a:xfrm>
          <a:prstGeom prst="line">
            <a:avLst/>
          </a:prstGeom>
          <a:ln w="25400">
            <a:solidFill>
              <a:srgbClr val="FF6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440680" y="1938528"/>
            <a:ext cx="320040" cy="438912"/>
          </a:xfrm>
          <a:prstGeom prst="line">
            <a:avLst/>
          </a:prstGeom>
          <a:ln w="21590">
            <a:solidFill>
              <a:srgbClr val="FF6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26763" y="231800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6844" y="231800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06924" y="231800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011680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feature ブランチを作成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（develop から）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48716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開発・確認</a:t>
            </a:r>
          </a:p>
        </p:txBody>
      </p:sp>
      <p:sp>
        <p:nvSpPr>
          <p:cNvPr id="24" name="Oval 23"/>
          <p:cNvSpPr/>
          <p:nvPr/>
        </p:nvSpPr>
        <p:spPr>
          <a:xfrm>
            <a:off x="5701283" y="187909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20299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PR で develop にマージ</a:t>
            </a:r>
          </a:p>
        </p:txBody>
      </p:sp>
      <p:sp>
        <p:nvSpPr>
          <p:cNvPr id="26" name="Oval 25"/>
          <p:cNvSpPr/>
          <p:nvPr/>
        </p:nvSpPr>
        <p:spPr>
          <a:xfrm>
            <a:off x="7941564" y="15681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8001000" y="1682496"/>
            <a:ext cx="0" cy="256032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79892" y="15681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097280"/>
            <a:ext cx="1691640" cy="3931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テスト完了後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develop → main へ PR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325880"/>
            <a:ext cx="868680" cy="274320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C7EE8"/>
                </a:solidFill>
                <a:latin typeface="Yu Gothic"/>
              </a:rPr>
              <a:t>リリース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8" y="1024128"/>
            <a:ext cx="1783080" cy="31089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0C4369"/>
                </a:solidFill>
                <a:latin typeface="Yu Gothic"/>
              </a:rPr>
              <a:t>ブランチの主な流れ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12680" y="1554480"/>
            <a:ext cx="411480" cy="0"/>
          </a:xfrm>
          <a:prstGeom prst="line">
            <a:avLst/>
          </a:prstGeom>
          <a:ln w="21590">
            <a:solidFill>
              <a:srgbClr val="1C7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533888" y="1472184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C4369"/>
                </a:solidFill>
                <a:latin typeface="Yu Gothic"/>
              </a:rPr>
              <a:t>main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12680" y="1929384"/>
            <a:ext cx="411480" cy="0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533888" y="18470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C4369"/>
                </a:solidFill>
                <a:latin typeface="Yu Gothic"/>
              </a:rPr>
              <a:t>develop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2680" y="2304288"/>
            <a:ext cx="411480" cy="0"/>
          </a:xfrm>
          <a:prstGeom prst="line">
            <a:avLst/>
          </a:prstGeom>
          <a:ln w="21590">
            <a:solidFill>
              <a:srgbClr val="FF6F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33888" y="222199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C4369"/>
                </a:solidFill>
                <a:latin typeface="Yu Gothic"/>
              </a:rPr>
              <a:t>feature/*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12680" y="2679192"/>
            <a:ext cx="411480" cy="0"/>
          </a:xfrm>
          <a:prstGeom prst="line">
            <a:avLst/>
          </a:prstGeom>
          <a:ln w="21590">
            <a:solidFill>
              <a:srgbClr val="EE2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533888" y="259689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0C4369"/>
                </a:solidFill>
                <a:latin typeface="Yu Gothic"/>
              </a:rPr>
              <a:t>hotfix/*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3182112"/>
            <a:ext cx="5303520" cy="31089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C4369"/>
                </a:solidFill>
                <a:latin typeface="Yu Gothic"/>
              </a:rPr>
              <a:t>不具合修正フロー（リリース済みの不具合）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3566160"/>
            <a:ext cx="1078992" cy="274320"/>
          </a:xfrm>
          <a:prstGeom prst="roundRect">
            <a:avLst/>
          </a:prstGeom>
          <a:solidFill>
            <a:srgbClr val="1C7EE8"/>
          </a:solidFill>
          <a:ln w="127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main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3913632"/>
            <a:ext cx="1078992" cy="274320"/>
          </a:xfrm>
          <a:prstGeom prst="roundRect">
            <a:avLst/>
          </a:prstGeom>
          <a:solidFill>
            <a:srgbClr val="EE2D3F"/>
          </a:solidFill>
          <a:ln w="127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hotfix/*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261104"/>
            <a:ext cx="1078992" cy="274320"/>
          </a:xfrm>
          <a:prstGeom prst="roundRect">
            <a:avLst/>
          </a:prstGeom>
          <a:solidFill>
            <a:srgbClr val="14A45B"/>
          </a:solidFill>
          <a:ln w="127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Yu Gothic"/>
              </a:rPr>
              <a:t>develop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45920" y="3712463"/>
            <a:ext cx="7955280" cy="0"/>
          </a:xfrm>
          <a:prstGeom prst="line">
            <a:avLst/>
          </a:prstGeom>
          <a:ln w="21590">
            <a:solidFill>
              <a:srgbClr val="1C7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45920" y="4407408"/>
            <a:ext cx="7955280" cy="0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815084" y="3653027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874519" y="3767328"/>
            <a:ext cx="457201" cy="365759"/>
          </a:xfrm>
          <a:prstGeom prst="line">
            <a:avLst/>
          </a:prstGeom>
          <a:ln w="21590">
            <a:solidFill>
              <a:srgbClr val="EE2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331720" y="4133087"/>
            <a:ext cx="3017520" cy="0"/>
          </a:xfrm>
          <a:prstGeom prst="line">
            <a:avLst/>
          </a:prstGeom>
          <a:ln w="25400">
            <a:solidFill>
              <a:srgbClr val="EE2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003804" y="4073651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26763" y="4073651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49724" y="4073651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5349240" y="3730752"/>
            <a:ext cx="320040" cy="402335"/>
          </a:xfrm>
          <a:prstGeom prst="line">
            <a:avLst/>
          </a:prstGeom>
          <a:ln w="21590">
            <a:solidFill>
              <a:srgbClr val="EE2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609844" y="3653027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5960" y="331012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main から hotfix/* を作成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169663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修正・確認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3310128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PR で main にマージ</a:t>
            </a:r>
          </a:p>
        </p:txBody>
      </p:sp>
      <p:sp>
        <p:nvSpPr>
          <p:cNvPr id="57" name="Oval 56"/>
          <p:cNvSpPr/>
          <p:nvPr/>
        </p:nvSpPr>
        <p:spPr>
          <a:xfrm>
            <a:off x="7758684" y="3653027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7818120" y="3767328"/>
            <a:ext cx="457200" cy="585216"/>
          </a:xfrm>
          <a:prstGeom prst="line">
            <a:avLst/>
          </a:prstGeom>
          <a:ln w="21590">
            <a:solidFill>
              <a:srgbClr val="14A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215884" y="434797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3720" y="384048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修正内容を develop にも反映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0C4369"/>
                </a:solidFill>
                <a:latin typeface="Yu Gothic"/>
              </a:rPr>
              <a:t>（必要に応じて）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" y="4096512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C4369"/>
                </a:solidFill>
                <a:latin typeface="Yu Gothic"/>
              </a:rPr>
              <a:t>各ブランチの役割と命名規則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28600" y="4462272"/>
            <a:ext cx="2176272" cy="19933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28600" y="4462272"/>
            <a:ext cx="2176272" cy="310896"/>
          </a:xfrm>
          <a:prstGeom prst="roundRect">
            <a:avLst/>
          </a:prstGeom>
          <a:solidFill>
            <a:srgbClr val="1C7EE8"/>
          </a:solidFill>
          <a:ln w="12700">
            <a:solidFill>
              <a:srgbClr val="1C7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main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4818888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C7EE8"/>
                </a:solidFill>
                <a:latin typeface="Yu Gothic"/>
              </a:rPr>
              <a:t>役割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4992624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リリース済みコードを管理。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5376672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C7EE8"/>
                </a:solidFill>
                <a:latin typeface="Yu Gothic"/>
              </a:rPr>
              <a:t>作成元・マージ先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5559552"/>
            <a:ext cx="1993391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初期作成のみ。リリース時に develop や hotfix から反映。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5998464"/>
            <a:ext cx="1993391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C7EE8"/>
                </a:solidFill>
                <a:latin typeface="Yu Gothic"/>
              </a:rPr>
              <a:t>命名規則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163056"/>
            <a:ext cx="1993391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main（固定）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6318504"/>
            <a:ext cx="1993391" cy="12801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660" b="0">
                <a:solidFill>
                  <a:srgbClr val="1C7EE8"/>
                </a:solidFill>
                <a:latin typeface="Yu Gothic"/>
              </a:rPr>
              <a:t>例：main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615184" y="4462272"/>
            <a:ext cx="2176272" cy="19933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615184" y="4462272"/>
            <a:ext cx="2176272" cy="310896"/>
          </a:xfrm>
          <a:prstGeom prst="roundRect">
            <a:avLst/>
          </a:prstGeom>
          <a:solidFill>
            <a:srgbClr val="14A45B"/>
          </a:solidFill>
          <a:ln w="12700">
            <a:solidFill>
              <a:srgbClr val="14A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develop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06624" y="4818888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A45B"/>
                </a:solidFill>
                <a:latin typeface="Yu Gothic"/>
              </a:rPr>
              <a:t>役割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6624" y="4992624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開発中のコードを管理。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06624" y="5376672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A45B"/>
                </a:solidFill>
                <a:latin typeface="Yu Gothic"/>
              </a:rPr>
              <a:t>作成元・マージ先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06624" y="5559552"/>
            <a:ext cx="1993391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main から作成し、feature や hotfix から反映。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06624" y="5998464"/>
            <a:ext cx="1993391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A45B"/>
                </a:solidFill>
                <a:latin typeface="Yu Gothic"/>
              </a:rPr>
              <a:t>命名規則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06624" y="6163056"/>
            <a:ext cx="1993391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develop（固定）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06624" y="6318504"/>
            <a:ext cx="1993391" cy="12801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660" b="0">
                <a:solidFill>
                  <a:srgbClr val="14A45B"/>
                </a:solidFill>
                <a:latin typeface="Yu Gothic"/>
              </a:rPr>
              <a:t>例：develop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01768" y="4462272"/>
            <a:ext cx="2176272" cy="19933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001768" y="4462272"/>
            <a:ext cx="2176272" cy="310896"/>
          </a:xfrm>
          <a:prstGeom prst="roundRect">
            <a:avLst/>
          </a:prstGeom>
          <a:solidFill>
            <a:srgbClr val="FF6F18"/>
          </a:solidFill>
          <a:ln w="12700">
            <a:solidFill>
              <a:srgbClr val="FF6F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feature/*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93207" y="4818888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6F18"/>
                </a:solidFill>
                <a:latin typeface="Yu Gothic"/>
              </a:rPr>
              <a:t>役割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3207" y="4992624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新機能の開発用ブランチ。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93207" y="5376672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6F18"/>
                </a:solidFill>
                <a:latin typeface="Yu Gothic"/>
              </a:rPr>
              <a:t>作成元・マージ先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93207" y="5559552"/>
            <a:ext cx="1993391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develop から作成し、完了後 develop へマージ。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93207" y="5998464"/>
            <a:ext cx="1993391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6F18"/>
                </a:solidFill>
                <a:latin typeface="Yu Gothic"/>
              </a:rPr>
              <a:t>命名規則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3207" y="6163056"/>
            <a:ext cx="1993391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feature/機能名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93207" y="6318504"/>
            <a:ext cx="1993391" cy="12801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660" b="0">
                <a:solidFill>
                  <a:srgbClr val="FF6F18"/>
                </a:solidFill>
                <a:latin typeface="Yu Gothic"/>
              </a:rPr>
              <a:t>例：feature/customer-search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88352" y="4462272"/>
            <a:ext cx="2176272" cy="19933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388352" y="4462272"/>
            <a:ext cx="2176272" cy="310896"/>
          </a:xfrm>
          <a:prstGeom prst="roundRect">
            <a:avLst/>
          </a:prstGeom>
          <a:solidFill>
            <a:srgbClr val="EE2D3F"/>
          </a:solidFill>
          <a:ln w="12700">
            <a:solidFill>
              <a:srgbClr val="E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hotfix/*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79792" y="4818888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EE2D3F"/>
                </a:solidFill>
                <a:latin typeface="Yu Gothic"/>
              </a:rPr>
              <a:t>役割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79792" y="4992624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リリース済みコードの緊急修正。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79792" y="5376672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EE2D3F"/>
                </a:solidFill>
                <a:latin typeface="Yu Gothic"/>
              </a:rPr>
              <a:t>作成元・マージ先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79792" y="5559552"/>
            <a:ext cx="1993391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main から作成し、修正後 main へ。必要に応じ develop 等にも反映。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79792" y="5998464"/>
            <a:ext cx="1993391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EE2D3F"/>
                </a:solidFill>
                <a:latin typeface="Yu Gothic"/>
              </a:rPr>
              <a:t>命名規則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79792" y="6163056"/>
            <a:ext cx="1993391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hotfix/修正内容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479792" y="6318504"/>
            <a:ext cx="1993391" cy="12801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660" b="0">
                <a:solidFill>
                  <a:srgbClr val="EE2D3F"/>
                </a:solidFill>
                <a:latin typeface="Yu Gothic"/>
              </a:rPr>
              <a:t>例：hotfix/login-error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774936" y="4462272"/>
            <a:ext cx="2176272" cy="19933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5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74936" y="4462272"/>
            <a:ext cx="2176272" cy="310896"/>
          </a:xfrm>
          <a:prstGeom prst="roundRect">
            <a:avLst/>
          </a:prstGeom>
          <a:solidFill>
            <a:srgbClr val="7453D5"/>
          </a:solidFill>
          <a:ln w="12700">
            <a:solidFill>
              <a:srgbClr val="745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Yu Gothic"/>
              </a:rPr>
              <a:t>project/*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66376" y="4818888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453D5"/>
                </a:solidFill>
                <a:latin typeface="Yu Gothic"/>
              </a:rPr>
              <a:t>役割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66376" y="4992624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リリース時期が異なる並行プロジェクト用。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66376" y="5376672"/>
            <a:ext cx="1993391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453D5"/>
                </a:solidFill>
                <a:latin typeface="Yu Gothic"/>
              </a:rPr>
              <a:t>作成元・マージ先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66376" y="5559552"/>
            <a:ext cx="1993391" cy="43891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main から作成し、プロジェクト内の feature から反映。リリース時 main へ。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66376" y="5998464"/>
            <a:ext cx="1993391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453D5"/>
                </a:solidFill>
                <a:latin typeface="Yu Gothic"/>
              </a:rPr>
              <a:t>命名規則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66376" y="6163056"/>
            <a:ext cx="1993391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0C4369"/>
                </a:solidFill>
                <a:latin typeface="Yu Gothic"/>
              </a:rPr>
              <a:t>project/プロジェクト名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866376" y="6318504"/>
            <a:ext cx="1993391" cy="128016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660" b="0">
                <a:solidFill>
                  <a:srgbClr val="7453D5"/>
                </a:solidFill>
                <a:latin typeface="Yu Gothic"/>
              </a:rPr>
              <a:t>例：project/customer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28600" y="6510528"/>
            <a:ext cx="11686032" cy="246888"/>
          </a:xfrm>
          <a:prstGeom prst="roundRect">
            <a:avLst/>
          </a:prstGeom>
          <a:solidFill>
            <a:srgbClr val="EFF8FF"/>
          </a:solidFill>
          <a:ln w="12700">
            <a:solidFill>
              <a:srgbClr val="A0D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0C4369"/>
                </a:solidFill>
                <a:latin typeface="Yu Gothic"/>
              </a:rPr>
              <a:t>補足：PRレビューはプロジェクトに応じて省略可能。アプリのバージョンはPRタイトルやGitタグで管理。並行プロジェクトでは project/* を使用。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